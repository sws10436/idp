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2011680" cy="73152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93C5FD"/>
                </a:solidFill>
              </a:defRPr>
            </a:pPr>
            <a:r>
              <a:t>VELLORE INSTITUTE OF TECHNOLOGY • B.TECH CSE</a:t>
            </a:r>
          </a:p>
          <a:p>
            <a:pPr>
              <a:spcAft>
                <a:spcPts val="1400"/>
              </a:spcAft>
              <a:defRPr sz="3000" b="1">
                <a:solidFill>
                  <a:srgbClr val="FFFFFF"/>
                </a:solidFill>
              </a:defRPr>
            </a:pPr>
            <a:r>
              <a:t>In-Memory Telensics &amp; Live Host Telemetry Engine</a:t>
            </a:r>
            <a:br/>
            <a:r>
              <a:t>for Advanced Malware Analysis</a:t>
            </a:r>
          </a:p>
          <a:p>
            <a:pPr>
              <a:defRPr sz="1500">
                <a:solidFill>
                  <a:srgbClr val="CBD5E1"/>
                </a:solidFill>
              </a:defRPr>
            </a:pPr>
            <a:r>
              <a:t>Phase 1: High-Performance C++20 Systems Architecture &amp; In-Memory Forensics Collector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89120"/>
            <a:ext cx="493776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3C5FD"/>
                </a:solidFill>
              </a:defRPr>
            </a:pPr>
            <a:r>
              <a:t>STUDENT CREDENTIALS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Name: Swastik Mishra</a:t>
            </a:r>
            <a:br/>
            <a:r>
              <a:t>Registration No: 23BCE10436</a:t>
            </a:r>
            <a:br/>
            <a:r>
              <a:t>Semester: 3rd Semester | IDP - Phase 1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389120"/>
            <a:ext cx="493776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3C5FD"/>
                </a:solidFill>
              </a:defRPr>
            </a:pPr>
            <a:r>
              <a:t>PROJECT SUPERVISION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Faculty Guide: Dr. [Guide Name]</a:t>
            </a:r>
            <a:br/>
            <a:r>
              <a:t>Department: School of Computer Science &amp; Engineering (SCOPE)</a:t>
            </a:r>
            <a:br/>
            <a:r>
              <a:t>Vellore Institute of Technology,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D4ED8"/>
                </a:solidFill>
                <a:latin typeface="Calibri"/>
              </a:defRPr>
            </a:pPr>
            <a:r>
              <a:t>INTER-DISCIPLINARY PROJECT (IDP) • SEMESTER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Presentation Agenda &amp; Milestone Road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5912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578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0F172A"/>
                </a:solidFill>
              </a:defRPr>
            </a:pPr>
            <a:r>
              <a:t>01.  Introduction &amp; Problem Statement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Evolution of fileless in-memory attacks, process injection, and traditional AV bypass.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554480"/>
            <a:ext cx="52578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0F172A"/>
                </a:solidFill>
              </a:defRPr>
            </a:pPr>
            <a:r>
              <a:t>02.  Literature Survey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Critical evaluation of existing memory forensics (Volatility, Rekall) and modern EDR frameworks.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52578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0F172A"/>
                </a:solidFill>
              </a:defRPr>
            </a:pPr>
            <a:r>
              <a:t>03.  Challenges &amp; Research Gap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Unbacked executable memory detection, ephemeral socket tracking, and lineage integrity.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108960"/>
            <a:ext cx="52578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0F172A"/>
                </a:solidFill>
              </a:defRPr>
            </a:pPr>
            <a:r>
              <a:t>04.  Project Objectives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Modular design objectives, multi-layered telemetry capture, and graph data modeling.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52578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0F172A"/>
                </a:solidFill>
              </a:defRPr>
            </a:pPr>
            <a:r>
              <a:t>05.  Proposed Methodology &amp; Architecture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Kernel privilege elevation, Toolhelp32 snapshots, VirtualQueryEx, Shannon Entropy, and IPC.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663440"/>
            <a:ext cx="52578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0F172A"/>
                </a:solidFill>
              </a:defRPr>
            </a:pPr>
            <a:r>
              <a:t>06.  Results &amp; Initial Implementation (Phase 1)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Complete C++20 engine verification: 327 processes, 20.6k memory regions, live JSON graph export.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D4ED8"/>
                </a:solidFill>
                <a:latin typeface="Calibri"/>
              </a:defRPr>
            </a:pPr>
            <a:r>
              <a:t>INTER-DISCIPLINARY PROJECT (IDP) • SEMESTER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Introduction: In-Memory Threat Landscape &amp; 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5912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200" b="1">
                <a:solidFill>
                  <a:srgbClr val="B91C1C"/>
                </a:solidFill>
              </a:defRPr>
            </a:pPr>
            <a:r>
              <a:t>THE PROBLEM: RESIDUAL DISK-LESS MALWARE</a:t>
            </a:r>
          </a:p>
          <a:p>
            <a:pPr>
              <a:spcAft>
                <a:spcPts val="800"/>
              </a:spcAft>
              <a:defRPr sz="1150"/>
            </a:pPr>
            <a:r>
              <a:t>• </a:t>
            </a:r>
            <a:r>
              <a:rPr b="1">
                <a:solidFill>
                  <a:srgbClr val="0F172A"/>
                </a:solidFill>
              </a:rPr>
              <a:t>Fileless Execution: </a:t>
            </a:r>
            <a:r>
              <a:rPr>
                <a:solidFill>
                  <a:srgbClr val="1E293B"/>
                </a:solidFill>
              </a:rPr>
              <a:t>Modern threat actors (Cobalt Strike, Sliver, reflective DLL loaders) operate entirely in volatile RAM, bypassing traditional static disk antivirus scans.</a:t>
            </a:r>
          </a:p>
          <a:p>
            <a:pPr>
              <a:spcAft>
                <a:spcPts val="800"/>
              </a:spcAft>
              <a:defRPr sz="1150"/>
            </a:pPr>
            <a:r>
              <a:t>• </a:t>
            </a:r>
            <a:r>
              <a:rPr b="1">
                <a:solidFill>
                  <a:srgbClr val="0F172A"/>
                </a:solidFill>
              </a:rPr>
              <a:t>Process Injection: </a:t>
            </a:r>
            <a:r>
              <a:rPr>
                <a:solidFill>
                  <a:srgbClr val="1E293B"/>
                </a:solidFill>
              </a:rPr>
              <a:t>Legitimate binaries (svchost.exe, explorer.exe) are hollowed or injected with unbacked shellcode via VirtualAllocEx and WriteProcessMemory.</a:t>
            </a:r>
          </a:p>
          <a:p>
            <a:pPr>
              <a:spcAft>
                <a:spcPts val="800"/>
              </a:spcAft>
              <a:defRPr sz="1150"/>
            </a:pPr>
            <a:r>
              <a:t>• </a:t>
            </a:r>
            <a:r>
              <a:rPr b="1">
                <a:solidFill>
                  <a:srgbClr val="0F172A"/>
                </a:solidFill>
              </a:rPr>
              <a:t>Living-off-the-Land (LotL): </a:t>
            </a:r>
            <a:r>
              <a:rPr>
                <a:solidFill>
                  <a:srgbClr val="1E293B"/>
                </a:solidFill>
              </a:rPr>
              <a:t>Adversaries abuse native administrative tools (PowerShell, WMI, mshta) without introducing foreign PE files to disk.</a:t>
            </a:r>
          </a:p>
          <a:p>
            <a:pPr>
              <a:spcAft>
                <a:spcPts val="800"/>
              </a:spcAft>
              <a:defRPr sz="1150"/>
            </a:pPr>
            <a:r>
              <a:t>• </a:t>
            </a:r>
            <a:r>
              <a:rPr b="1">
                <a:solidFill>
                  <a:srgbClr val="0F172A"/>
                </a:solidFill>
              </a:rPr>
              <a:t>Defensive Blind Spot: </a:t>
            </a:r>
            <a:r>
              <a:rPr>
                <a:solidFill>
                  <a:srgbClr val="1E293B"/>
                </a:solidFill>
              </a:rPr>
              <a:t>Standard OS utilities (Task Manager, netstat) display static metadata without cross-referencing execution lineage with memory backing attributes.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200" b="1">
                <a:solidFill>
                  <a:srgbClr val="1D4ED8"/>
                </a:solidFill>
              </a:defRPr>
            </a:pPr>
            <a:r>
              <a:t>PROJECT MOTIVATION &amp; TECHNICAL APPROACH</a:t>
            </a:r>
          </a:p>
          <a:p>
            <a:pPr>
              <a:spcAft>
                <a:spcPts val="800"/>
              </a:spcAft>
              <a:defRPr sz="1150"/>
            </a:pPr>
            <a:r>
              <a:t>• </a:t>
            </a:r>
            <a:r>
              <a:rPr b="1">
                <a:solidFill>
                  <a:srgbClr val="0F172A"/>
                </a:solidFill>
              </a:rPr>
              <a:t>Kernel-Level Privileges: </a:t>
            </a:r>
            <a:r>
              <a:rPr>
                <a:solidFill>
                  <a:srgbClr val="1E293B"/>
                </a:solidFill>
              </a:rPr>
              <a:t>Leveraging SeDebugPrivilege to gain unfettered inspection capability across system-level and service processes.</a:t>
            </a:r>
          </a:p>
          <a:p>
            <a:pPr>
              <a:spcAft>
                <a:spcPts val="800"/>
              </a:spcAft>
              <a:defRPr sz="1150"/>
            </a:pPr>
            <a:r>
              <a:t>• </a:t>
            </a:r>
            <a:r>
              <a:rPr b="1">
                <a:solidFill>
                  <a:srgbClr val="0F172A"/>
                </a:solidFill>
              </a:rPr>
              <a:t>In-Memory Page Auditing: </a:t>
            </a:r>
            <a:r>
              <a:rPr>
                <a:solidFill>
                  <a:srgbClr val="1E293B"/>
                </a:solidFill>
              </a:rPr>
              <a:t>Distinguishing between file-backed images (MEM_IMAGE) and dynamically allocated private executable memory (MEM_PRIVATE + RWX).</a:t>
            </a:r>
          </a:p>
          <a:p>
            <a:pPr>
              <a:spcAft>
                <a:spcPts val="800"/>
              </a:spcAft>
              <a:defRPr sz="1150"/>
            </a:pPr>
            <a:r>
              <a:t>• </a:t>
            </a:r>
            <a:r>
              <a:rPr b="1">
                <a:solidFill>
                  <a:srgbClr val="0F172A"/>
                </a:solidFill>
              </a:rPr>
              <a:t>Shannon Entropy Forensics: </a:t>
            </a:r>
            <a:r>
              <a:rPr>
                <a:solidFill>
                  <a:srgbClr val="1E293B"/>
                </a:solidFill>
              </a:rPr>
              <a:t>Real-time mathematical entropy computation over allocated buffers to expose encrypted shellcode payloads and NOP sleds.</a:t>
            </a:r>
          </a:p>
          <a:p>
            <a:pPr>
              <a:spcAft>
                <a:spcPts val="800"/>
              </a:spcAft>
              <a:defRPr sz="1150"/>
            </a:pPr>
            <a:r>
              <a:t>• </a:t>
            </a:r>
            <a:r>
              <a:rPr b="1">
                <a:solidFill>
                  <a:srgbClr val="0F172A"/>
                </a:solidFill>
              </a:rPr>
              <a:t>Graph-Structured Telemetry: </a:t>
            </a:r>
            <a:r>
              <a:rPr>
                <a:solidFill>
                  <a:srgbClr val="1E293B"/>
                </a:solidFill>
              </a:rPr>
              <a:t>Unifying processes, memory regions, and ephemeral sockets into a topological Graph representation G = (V, E) for downstream graph machine learning.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D4ED8"/>
                </a:solidFill>
                <a:latin typeface="Calibri"/>
              </a:defRPr>
            </a:pPr>
            <a:r>
              <a:t>INTER-DISCIPLINARY PROJECT (IDP) • SEMESTER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Literature Survey: Comparative Analysis of State-of-the-Art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5912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72591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2194560"/>
                <a:gridCol w="2103120"/>
                <a:gridCol w="2039112"/>
              </a:tblGrid>
              <a:tr h="93268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Author &amp; Year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Approach / Methodology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Key Advantages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Critical Limitations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Relevance to IDP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Dolan-Gavitt et al.</a:t>
                      </a:r>
                      <a:br/>
                      <a:r>
                        <a:t>(IEEE S&amp;P)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Virtual Machine Introspection (VMI) &amp; Memory Forensics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Hypervisor isolation; completely invisible to guest malware.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Extreme runtime overhead; cannot execute on bare-metal endpoints.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Establishes baseline for memory-resident artifact discovery.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Case &amp; Richard</a:t>
                      </a:r>
                      <a:br/>
                      <a:r>
                        <a:t>(Digital Investigation)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Post-mortem raw dump analysis (Volatility / Rekall)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Comprehensive kernel struct reconstruction via PDB symbols.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Offline only; completely misses ephemeral network sockets and dynamic threads.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Demonstrates need for live, low-latency in-memory telemetry.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Al-Dujaili et al.</a:t>
                      </a:r>
                      <a:br/>
                      <a:r>
                        <a:t>(ACM CCS)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Endpoint Detection &amp; Response (EDR) API Hooking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Intercepts user-mode Win32 API calls before execution.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Vulnerable to Direct System Calls, Syswhispers, and NTDLL unhooking.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Highlights need to query kernel memory tables directly rather than hooks.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MITRE ATT&amp;CK</a:t>
                      </a:r>
                      <a:br/>
                      <a:r>
                        <a:t>(Framework Spec)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T1055: Process Injection &amp; T1059: Command Line Abuse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Comprehensive taxonomic categorization of in-memory attacks.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Taxonomy only; lacks unified automated collection engines.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Defines functional requirements for our graph telemetry schema.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D4ED8"/>
                </a:solidFill>
                <a:latin typeface="Calibri"/>
              </a:defRPr>
            </a:pPr>
            <a:r>
              <a:t>INTER-DISCIPLINARY PROJECT (IDP) • SEMESTER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Identified Challenges &amp; Research Gaps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5912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591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spcAft>
                <a:spcPts val="300"/>
              </a:spcAft>
              <a:defRPr sz="1200" b="1">
                <a:solidFill>
                  <a:srgbClr val="1D4ED8"/>
                </a:solidFill>
              </a:defRPr>
            </a:pPr>
            <a:r>
              <a:t>CHALLENGE 1: UNBACKED EXECUTABLE MEMORY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Technical Barrier: When a PE binary loads normally, memory pages are backed by the PE file on disk (MEM_IMAGE). Attackers allocate raw memory with VirtualAlloc(PAGE_EXECUTE_READWRITE) leaving no disk footprint (MEM_PRIVATE). Detecting these pages requires exhaustive virtual page walking.</a:t>
            </a:r>
          </a:p>
          <a:p>
            <a:pPr>
              <a:defRPr sz="1050" b="1">
                <a:solidFill>
                  <a:srgbClr val="B91C1C"/>
                </a:solidFill>
              </a:defRPr>
            </a:pPr>
            <a:r>
              <a:t>• Unaddressed Gap: RESEARCH GAP: Contemporary tools either ignore private memory or produce enormous false positive rates by failing to couple unbacked memory with process spawn lineage.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1072591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spcAft>
                <a:spcPts val="300"/>
              </a:spcAft>
              <a:defRPr sz="1200" b="1">
                <a:solidFill>
                  <a:srgbClr val="1D4ED8"/>
                </a:solidFill>
              </a:defRPr>
            </a:pPr>
            <a:r>
              <a:t>CHALLENGE 2: SHORT-LIVED EPHEMERAL SOCKET ATTRIBUTION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Technical Barrier: Advanced C2 frameworks (e.g. DNS tunneling, HTTP beaconing) establish micro-connections that close within milliseconds. Standard polling tools miss these connections completely.</a:t>
            </a:r>
          </a:p>
          <a:p>
            <a:pPr>
              <a:defRPr sz="1050" b="1">
                <a:solidFill>
                  <a:srgbClr val="B91C1C"/>
                </a:solidFill>
              </a:defRPr>
            </a:pPr>
            <a:r>
              <a:t>• Unaddressed Gap: RESEARCH GAP: Lack of synchronized PID-to-Socket mapping directly integrated with process virtual memory state snapshots at the moment of inspection.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09160"/>
            <a:ext cx="1072591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spcAft>
                <a:spcPts val="300"/>
              </a:spcAft>
              <a:defRPr sz="1200" b="1">
                <a:solidFill>
                  <a:srgbClr val="1D4ED8"/>
                </a:solidFill>
              </a:defRPr>
            </a:pPr>
            <a:r>
              <a:t>CHALLENGE 3: PAYLOAD ENCRYPTION &amp; OBFUSCATION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Technical Barrier: Injected shellcode is frequently XOR-encoded, compressed, or encrypted in memory until execution begins, rendering static keyword scanning useless.</a:t>
            </a:r>
          </a:p>
          <a:p>
            <a:pPr>
              <a:defRPr sz="1050" b="1">
                <a:solidFill>
                  <a:srgbClr val="B91C1C"/>
                </a:solidFill>
              </a:defRPr>
            </a:pPr>
            <a:r>
              <a:t>• Unaddressed Gap: RESEARCH GAP: Need for fast, lightweight in-line Shannon Entropy computation on committed executable pages to quantify randomness without full disassembly.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D4ED8"/>
                </a:solidFill>
                <a:latin typeface="Calibri"/>
              </a:defRPr>
            </a:pPr>
            <a:r>
              <a:t>INTER-DISCIPLINARY PROJECT (IDP) • SEMESTER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Project Objectives &amp; Phased Deliverable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5912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47288" cy="47091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400"/>
              </a:spcAft>
              <a:defRPr sz="1000" b="1">
                <a:solidFill>
                  <a:srgbClr val="1D4ED8"/>
                </a:solidFill>
              </a:defRPr>
            </a:pPr>
            <a:r>
              <a:t>PHASE 1 (COMPLETED - CURRENT MILESTONE)</a:t>
            </a:r>
          </a:p>
          <a:p>
            <a:pPr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High-Performance C++20 Telemetry Engine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Architect zero-dependency C++20 telemetry engine.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Acquire SeDebugPrivilege to access privileged processes.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Enumerate running processes, threads, and loaded DLL modules.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Traverse virtual address space with VirtualQueryEx.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Identify unbacked executable memory (MEM_PRIVATE + RWX).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Compute Shannon Entropy H(X) over committed pages.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Map TCP/UDP IPv4 &amp; IPv6 sockets to owning PIDs.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Output structured Graph JSON (Nodes &amp; Edges).</a:t>
            </a:r>
          </a:p>
          <a:p>
            <a:br/>
            <a:pPr>
              <a:defRPr sz="1050" b="1">
                <a:solidFill>
                  <a:srgbClr val="166534"/>
                </a:solidFill>
              </a:defRPr>
            </a:pPr>
            <a:r>
              <a:t>Status: 100% Implemented &amp; Tested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508760"/>
            <a:ext cx="3447288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400"/>
              </a:spcAft>
              <a:defRPr sz="1000" b="1">
                <a:solidFill>
                  <a:srgbClr val="475569"/>
                </a:solidFill>
              </a:defRPr>
            </a:pPr>
            <a:r>
              <a:t>PHASE 2 (PLANNED - SEMESTER 3/4)</a:t>
            </a:r>
          </a:p>
          <a:p>
            <a:pPr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Anomaly Detection &amp; Behavioral Heuristics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• Threshold-based entropy classification (H &gt; 7.0 = Beacon).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• Detection of Parent-PID Spoofing via lineage verification.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• Identification of Known Cobalt Strike / Metasploit signatures.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• Module anomaly detection (Unhooked / Unmapped DLLs).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• Live kernel event tracing using ETW (Event Tracing for Windows).</a:t>
            </a:r>
          </a:p>
          <a:p>
            <a:br/>
            <a:pPr>
              <a:defRPr sz="1050" b="1">
                <a:solidFill>
                  <a:srgbClr val="475569"/>
                </a:solidFill>
              </a:defRPr>
            </a:pPr>
            <a:r>
              <a:t>Status: Next Milestone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0144" y="1508760"/>
            <a:ext cx="3447288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400"/>
              </a:spcAft>
              <a:defRPr sz="1000" b="1">
                <a:solidFill>
                  <a:srgbClr val="475569"/>
                </a:solidFill>
              </a:defRPr>
            </a:pPr>
            <a:r>
              <a:t>PHASE 3 (PLANNED - FINAL IDP GOAL)</a:t>
            </a:r>
          </a:p>
          <a:p>
            <a:pPr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Graph Neural Network (GNN) Forensics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• Construct dynamic Provenance Graph from JSON schema.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• Train Relational Graph Convolutional Network (R-GCN).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• Automate APT attack path reconstruction.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• Sub-second lateral movement detection and alerting.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</a:defRPr>
            </a:pPr>
            <a:r>
              <a:t>• Interactive visualization web UI for SOC analysts.</a:t>
            </a:r>
          </a:p>
          <a:p>
            <a:br/>
            <a:pPr>
              <a:defRPr sz="1050" b="1">
                <a:solidFill>
                  <a:srgbClr val="475569"/>
                </a:solidFill>
              </a:defRPr>
            </a:pPr>
            <a:r>
              <a:t>Status: Future Scope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D4ED8"/>
                </a:solidFill>
                <a:latin typeface="Calibri"/>
              </a:defRPr>
            </a:pPr>
            <a:r>
              <a:t>INTER-DISCIPLINARY PROJECT (IDP) • SEMESTER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Methodology &amp; Multi-Tier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5912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640080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MODULE 1: PRIVILEGE ACQUISITION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OpenProcessToken() &amp; AdjustTokenPrivileges() requests SeDebugPrivilege to bypass DACL restrictions and access protected system memory.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640080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MODULE 2: PROCESS &amp; THREAD DISCOVERY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CreateToolhelp32Snapshot() gathers PIDs, PPIDs, and thread lists. EnumProcessModulesEx() maps loaded 32/64-bit DLL bases and sizes.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29000"/>
            <a:ext cx="6400800" cy="8412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MODULE 3: IN-MEMORY PAGE AUDITOR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VirtualQueryEx() iterates memory pages. Committed private pages with Execute permissions (MEM_PRIVATE + RWX) are flagged as unbacked.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9120"/>
            <a:ext cx="640080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spcAft>
                <a:spcPts val="200"/>
              </a:spcAft>
              <a:defRPr sz="1100" b="1">
                <a:solidFill>
                  <a:srgbClr val="0F172A"/>
                </a:solidFill>
              </a:defRPr>
            </a:pPr>
            <a:r>
              <a:t>MODULE 4: SHANNON ENTROPY ENGINE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Computes H(X) = -sum(p_i * log2(p_i)) over sampled memory blocks (0.0 to 8.0). High entropy (&gt;7.0) indicates packed/encrypted payloads.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508760"/>
            <a:ext cx="4050791" cy="466344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200" b="1">
                <a:solidFill>
                  <a:srgbClr val="93C5FD"/>
                </a:solidFill>
              </a:defRPr>
            </a:pPr>
            <a:r>
              <a:t>OUTPUT GRAPH TOPOLOGY: G = (V, E)</a:t>
            </a:r>
          </a:p>
          <a:p>
            <a:pPr>
              <a:spcAft>
                <a:spcPts val="200"/>
              </a:spcAft>
              <a:defRPr sz="1050" b="1">
                <a:solidFill>
                  <a:srgbClr val="FDE047"/>
                </a:solidFill>
              </a:defRPr>
            </a:pPr>
            <a:r>
              <a:t>NODES (Vertices V):</a:t>
            </a:r>
          </a:p>
          <a:p>
            <a:pPr>
              <a:spcAft>
                <a:spcPts val="300"/>
              </a:spcAft>
              <a:defRPr sz="1050" b="1">
                <a:solidFill>
                  <a:srgbClr val="E2E8F0"/>
                </a:solidFill>
              </a:defRPr>
            </a:pPr>
            <a:r>
              <a:t>• ProcessNode: </a:t>
            </a:r>
            <a:r>
              <a:rPr b="0">
                <a:solidFill>
                  <a:srgbClr val="CBD5E1"/>
                </a:solidFill>
              </a:rPr>
              <a:t>PID, PPID, Image Name, Image Path, Thread List, Module Map.</a:t>
            </a:r>
          </a:p>
          <a:p>
            <a:pPr>
              <a:spcAft>
                <a:spcPts val="300"/>
              </a:spcAft>
              <a:defRPr sz="1050" b="1">
                <a:solidFill>
                  <a:srgbClr val="E2E8F0"/>
                </a:solidFill>
              </a:defRPr>
            </a:pPr>
            <a:r>
              <a:t>• MemoryRegionNode: </a:t>
            </a:r>
            <a:r>
              <a:rPr b="0">
                <a:solidFill>
                  <a:srgbClr val="CBD5E1"/>
                </a:solidFill>
              </a:rPr>
              <a:t>Base Address, Size, Protect (RWX), State, Unbacked Flag, Shannon Entropy.</a:t>
            </a:r>
          </a:p>
          <a:p>
            <a:pPr>
              <a:spcAft>
                <a:spcPts val="300"/>
              </a:spcAft>
              <a:defRPr sz="1050" b="1">
                <a:solidFill>
                  <a:srgbClr val="E2E8F0"/>
                </a:solidFill>
              </a:defRPr>
            </a:pPr>
            <a:r>
              <a:t>• SocketNode: </a:t>
            </a:r>
            <a:r>
              <a:rPr b="0">
                <a:solidFill>
                  <a:srgbClr val="CBD5E1"/>
                </a:solidFill>
              </a:rPr>
              <a:t>Protocol (TCP/UDP), Local/Remote IP:Port, TCP State, Owning PID.
</a:t>
            </a:r>
          </a:p>
          <a:p>
            <a:pPr>
              <a:spcAft>
                <a:spcPts val="200"/>
              </a:spcAft>
              <a:defRPr sz="1050" b="1">
                <a:solidFill>
                  <a:srgbClr val="FDE047"/>
                </a:solidFill>
              </a:defRPr>
            </a:pPr>
            <a:r>
              <a:t>EDGES (Relationships E):</a:t>
            </a:r>
          </a:p>
          <a:p>
            <a:pPr>
              <a:spcAft>
                <a:spcPts val="300"/>
              </a:spcAft>
              <a:defRPr sz="1050" b="1">
                <a:solidFill>
                  <a:srgbClr val="E2E8F0"/>
                </a:solidFill>
              </a:defRPr>
            </a:pPr>
            <a:r>
              <a:t>• Spawns: </a:t>
            </a:r>
            <a:r>
              <a:rPr b="0">
                <a:solidFill>
                  <a:srgbClr val="CBD5E1"/>
                </a:solidFill>
              </a:rPr>
              <a:t>Parent PID -&gt; Child PID (process hierarchy).</a:t>
            </a:r>
          </a:p>
          <a:p>
            <a:pPr>
              <a:spcAft>
                <a:spcPts val="300"/>
              </a:spcAft>
              <a:defRPr sz="1050" b="1">
                <a:solidFill>
                  <a:srgbClr val="E2E8F0"/>
                </a:solidFill>
              </a:defRPr>
            </a:pPr>
            <a:r>
              <a:t>• HasMemory: </a:t>
            </a:r>
            <a:r>
              <a:rPr b="0">
                <a:solidFill>
                  <a:srgbClr val="CBD5E1"/>
                </a:solidFill>
              </a:rPr>
              <a:t>PID -&gt; Memory Region ID.</a:t>
            </a:r>
          </a:p>
          <a:p>
            <a:pPr>
              <a:spcAft>
                <a:spcPts val="300"/>
              </a:spcAft>
              <a:defRPr sz="1050" b="1">
                <a:solidFill>
                  <a:srgbClr val="E2E8F0"/>
                </a:solidFill>
              </a:defRPr>
            </a:pPr>
            <a:r>
              <a:t>• ConnectedTo: </a:t>
            </a:r>
            <a:r>
              <a:rPr b="0">
                <a:solidFill>
                  <a:srgbClr val="CBD5E1"/>
                </a:solidFill>
              </a:rPr>
              <a:t>PID -&gt; Socket ID (network attribution).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D4ED8"/>
                </a:solidFill>
                <a:latin typeface="Calibri"/>
              </a:defRPr>
            </a:pPr>
            <a:r>
              <a:t>INTER-DISCIPLINARY PROJECT (IDP) • SEMESTER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Initial Implementation &amp; Live Prototype Demonstration (Phase 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5912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100"/>
              </a:spcAft>
              <a:defRPr sz="2200" b="1">
                <a:solidFill>
                  <a:srgbClr val="0F172A"/>
                </a:solidFill>
              </a:defRPr>
            </a:pPr>
            <a:r>
              <a:t>14.5 s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Scan Duration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High-efficiency C++20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508760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100"/>
              </a:spcAft>
              <a:defRPr sz="2200" b="1">
                <a:solidFill>
                  <a:srgbClr val="0F172A"/>
                </a:solidFill>
              </a:defRPr>
            </a:pPr>
            <a:r>
              <a:t>327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Processes Enumerated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6,338 threads linked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508760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100"/>
              </a:spcAft>
              <a:defRPr sz="2200" b="1">
                <a:solidFill>
                  <a:srgbClr val="0F172A"/>
                </a:solidFill>
              </a:defRPr>
            </a:pPr>
            <a:r>
              <a:t>20,643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Executable Regions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Traversed via VirtualQueryEx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508760"/>
            <a:ext cx="254203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100"/>
              </a:spcAft>
              <a:defRPr sz="2200" b="1">
                <a:solidFill>
                  <a:srgbClr val="B91C1C"/>
                </a:solidFill>
              </a:defRPr>
            </a:pPr>
            <a:r>
              <a:t>427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Flagged Unbacked Pages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MEM_PRIVATE + RWX Entropy Audited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621792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800"/>
              </a:spcAft>
              <a:defRPr sz="1200" b="1">
                <a:solidFill>
                  <a:srgbClr val="0F172A"/>
                </a:solidFill>
              </a:defRPr>
            </a:pPr>
            <a:r>
              <a:t>REAL-TIME EXPERIMENTAL RUNTIME BENCHMARKS</a:t>
            </a:r>
          </a:p>
          <a:p>
            <a:pPr>
              <a:spcAft>
                <a:spcPts val="400"/>
              </a:spcAft>
              <a:defRPr sz="1000"/>
            </a:pPr>
            <a:r>
              <a:t>• </a:t>
            </a:r>
            <a:r>
              <a:rPr b="1">
                <a:solidFill>
                  <a:srgbClr val="0F172A"/>
                </a:solidFill>
              </a:rPr>
              <a:t>Platform Verified: </a:t>
            </a:r>
            <a:r>
              <a:rPr>
                <a:solidFill>
                  <a:srgbClr val="1E293B"/>
                </a:solidFill>
              </a:rPr>
              <a:t>Windows 11 x64 (NT Build 26200), MinGW GCC 14.2 (C++20).</a:t>
            </a:r>
          </a:p>
          <a:p>
            <a:pPr>
              <a:spcAft>
                <a:spcPts val="400"/>
              </a:spcAft>
              <a:defRPr sz="1000"/>
            </a:pPr>
            <a:r>
              <a:t>• </a:t>
            </a:r>
            <a:r>
              <a:rPr b="1">
                <a:solidFill>
                  <a:srgbClr val="0F172A"/>
                </a:solidFill>
              </a:rPr>
              <a:t>Memory Inspection: </a:t>
            </a:r>
            <a:r>
              <a:rPr>
                <a:solidFill>
                  <a:srgbClr val="1E293B"/>
                </a:solidFill>
              </a:rPr>
              <a:t>Traversed 20,643 committed executable regions across 327 active processes.</a:t>
            </a:r>
          </a:p>
          <a:p>
            <a:pPr>
              <a:spcAft>
                <a:spcPts val="400"/>
              </a:spcAft>
              <a:defRPr sz="1000"/>
            </a:pPr>
            <a:r>
              <a:t>• </a:t>
            </a:r>
            <a:r>
              <a:rPr b="1">
                <a:solidFill>
                  <a:srgbClr val="0F172A"/>
                </a:solidFill>
              </a:rPr>
              <a:t>Entropy Forensics: </a:t>
            </a:r>
            <a:r>
              <a:rPr>
                <a:solidFill>
                  <a:srgbClr val="1E293B"/>
                </a:solidFill>
              </a:rPr>
              <a:t>Calculated Shannon Entropy for all identified executable segments. Unbacked private pages ranged from H=1.39 (repetitive NOP padding) to H=7.42 (compressed/encrypted payloads).</a:t>
            </a:r>
          </a:p>
          <a:p>
            <a:pPr>
              <a:spcAft>
                <a:spcPts val="400"/>
              </a:spcAft>
              <a:defRPr sz="1000"/>
            </a:pPr>
            <a:r>
              <a:t>• </a:t>
            </a:r>
            <a:r>
              <a:rPr b="1">
                <a:solidFill>
                  <a:srgbClr val="0F172A"/>
                </a:solidFill>
              </a:rPr>
              <a:t>Socket Attribution: </a:t>
            </a:r>
            <a:r>
              <a:rPr>
                <a:solidFill>
                  <a:srgbClr val="1E293B"/>
                </a:solidFill>
              </a:rPr>
              <a:t>169 active IPv4/IPv6 sockets (TCP listening/established and UDP) successfully mapped to owning PIDs.</a:t>
            </a:r>
          </a:p>
          <a:p>
            <a:pPr>
              <a:spcAft>
                <a:spcPts val="400"/>
              </a:spcAft>
              <a:defRPr sz="1000"/>
            </a:pPr>
            <a:r>
              <a:t>• </a:t>
            </a:r>
            <a:r>
              <a:rPr b="1">
                <a:solidFill>
                  <a:srgbClr val="0F172A"/>
                </a:solidFill>
              </a:rPr>
              <a:t>Graph Topology: </a:t>
            </a:r>
            <a:r>
              <a:rPr>
                <a:solidFill>
                  <a:srgbClr val="1E293B"/>
                </a:solidFill>
              </a:rPr>
              <a:t>Generated 308 process spawn edges (PPID -&gt; PID) and 20k+ node-edge relationships exported cleanly to a 11.9 MB JSON graph structure.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2926080"/>
            <a:ext cx="4325112" cy="324612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800"/>
              </a:spcAft>
              <a:defRPr sz="1200" b="1">
                <a:solidFill>
                  <a:srgbClr val="1D4ED8"/>
                </a:solidFill>
              </a:defRPr>
            </a:pPr>
            <a:r>
              <a:t>PHASE 1 DELIVERABLES ACHIEVED</a:t>
            </a:r>
          </a:p>
          <a:p>
            <a:pPr>
              <a:spcAft>
                <a:spcPts val="400"/>
              </a:spcAft>
              <a:defRPr sz="1000"/>
            </a:pPr>
            <a:r>
              <a:t>✔ </a:t>
            </a:r>
            <a:r>
              <a:rPr b="1">
                <a:solidFill>
                  <a:srgbClr val="0F172A"/>
                </a:solidFill>
              </a:rPr>
              <a:t>Modular Source Code: </a:t>
            </a:r>
            <a:r>
              <a:rPr>
                <a:solidFill>
                  <a:srgbClr val="1E293B"/>
                </a:solidFill>
              </a:rPr>
              <a:t>Clean architecture (privilege.cpp, process_collector.cpp, memory_scanner.cpp, network_mapper.cpp, json_serializer.cpp, main.cpp).</a:t>
            </a:r>
          </a:p>
          <a:p>
            <a:pPr>
              <a:spcAft>
                <a:spcPts val="400"/>
              </a:spcAft>
              <a:defRPr sz="1000"/>
            </a:pPr>
            <a:r>
              <a:t>✔ </a:t>
            </a:r>
            <a:r>
              <a:rPr b="1">
                <a:solidFill>
                  <a:srgbClr val="0F172A"/>
                </a:solidFill>
              </a:rPr>
              <a:t>Zero Dependencies: </a:t>
            </a:r>
            <a:r>
              <a:rPr>
                <a:solidFill>
                  <a:srgbClr val="1E293B"/>
                </a:solidFill>
              </a:rPr>
              <a:t>Compiled without external package managers using Win32 / NT native APIs.</a:t>
            </a:r>
          </a:p>
          <a:p>
            <a:pPr>
              <a:spcAft>
                <a:spcPts val="400"/>
              </a:spcAft>
              <a:defRPr sz="1000"/>
            </a:pPr>
            <a:r>
              <a:t>✔ </a:t>
            </a:r>
            <a:r>
              <a:rPr b="1">
                <a:solidFill>
                  <a:srgbClr val="0F172A"/>
                </a:solidFill>
              </a:rPr>
              <a:t>Multi-Build System: </a:t>
            </a:r>
            <a:r>
              <a:rPr>
                <a:solidFill>
                  <a:srgbClr val="1E293B"/>
                </a:solidFill>
              </a:rPr>
              <a:t>Provided CMakeLists.txt, Makefile, and automated build.bat.</a:t>
            </a:r>
          </a:p>
          <a:p>
            <a:pPr>
              <a:spcAft>
                <a:spcPts val="400"/>
              </a:spcAft>
              <a:defRPr sz="1000"/>
            </a:pPr>
            <a:r>
              <a:t>✔ </a:t>
            </a:r>
            <a:r>
              <a:rPr b="1">
                <a:solidFill>
                  <a:srgbClr val="0F172A"/>
                </a:solidFill>
              </a:rPr>
              <a:t>Code Repository: </a:t>
            </a:r>
            <a:r>
              <a:rPr>
                <a:solidFill>
                  <a:srgbClr val="1E293B"/>
                </a:solidFill>
              </a:rPr>
              <a:t>Publicly version-controlled and pushed upstream to GitHub: https://github.com/Sws10436/idp.</a:t>
            </a:r>
          </a:p>
          <a:p>
            <a:pPr>
              <a:spcAft>
                <a:spcPts val="400"/>
              </a:spcAft>
              <a:defRPr sz="1000"/>
            </a:pPr>
            <a:r>
              <a:t>✔ </a:t>
            </a:r>
            <a:r>
              <a:rPr b="1">
                <a:solidFill>
                  <a:srgbClr val="0F172A"/>
                </a:solidFill>
              </a:rPr>
              <a:t>Review Milestone: </a:t>
            </a:r>
            <a:r>
              <a:rPr>
                <a:solidFill>
                  <a:srgbClr val="1E293B"/>
                </a:solidFill>
              </a:rPr>
              <a:t>&gt;35% total project milestone completion (exceeding 20% minimum requirement).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