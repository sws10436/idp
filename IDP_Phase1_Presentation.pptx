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6" d="100"/>
          <a:sy n="96" d="100"/>
        </p:scale>
        <p:origin x="149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wastik Mishra" userId="5d89eda882970810" providerId="LiveId" clId="{EE497EE4-DEFD-4DE7-A979-D84DEF1B4A2F}"/>
    <pc:docChg chg="custSel modSld">
      <pc:chgData name="Swastik Mishra" userId="5d89eda882970810" providerId="LiveId" clId="{EE497EE4-DEFD-4DE7-A979-D84DEF1B4A2F}" dt="2026-09-22T16:09:20.884" v="103" actId="20577"/>
      <pc:docMkLst>
        <pc:docMk/>
      </pc:docMkLst>
      <pc:sldChg chg="modSp mod">
        <pc:chgData name="Swastik Mishra" userId="5d89eda882970810" providerId="LiveId" clId="{EE497EE4-DEFD-4DE7-A979-D84DEF1B4A2F}" dt="2026-09-22T16:09:20.884" v="103" actId="20577"/>
        <pc:sldMkLst>
          <pc:docMk/>
          <pc:sldMk cId="0" sldId="256"/>
        </pc:sldMkLst>
        <pc:spChg chg="mod">
          <ac:chgData name="Swastik Mishra" userId="5d89eda882970810" providerId="LiveId" clId="{EE497EE4-DEFD-4DE7-A979-D84DEF1B4A2F}" dt="2026-09-22T16:09:20.884" v="103" actId="20577"/>
          <ac:spMkLst>
            <pc:docMk/>
            <pc:sldMk cId="0" sldId="256"/>
            <ac:spMk id="5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14400" y="914400"/>
            <a:ext cx="2011680" cy="73152"/>
          </a:xfrm>
          <a:prstGeom prst="rect">
            <a:avLst/>
          </a:prstGeom>
          <a:solidFill>
            <a:srgbClr val="1D4ED8"/>
          </a:solidFill>
          <a:ln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3327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200" b="1">
                <a:solidFill>
                  <a:srgbClr val="93C5FD"/>
                </a:solidFill>
              </a:defRPr>
            </a:pPr>
            <a:r>
              <a:t>VELLORE INSTITUTE OF TECHNOLOGY • B.TECH CSE</a:t>
            </a:r>
          </a:p>
          <a:p>
            <a:pPr>
              <a:spcAft>
                <a:spcPts val="1400"/>
              </a:spcAft>
              <a:defRPr sz="3000" b="1">
                <a:solidFill>
                  <a:srgbClr val="FFFFFF"/>
                </a:solidFill>
              </a:defRPr>
            </a:pPr>
            <a:r>
              <a:t>In-Memory Telensics &amp; Live Host Telemetry Engine</a:t>
            </a:r>
            <a:br/>
            <a:r>
              <a:t>for Advanced Malware Analysis</a:t>
            </a:r>
          </a:p>
          <a:p>
            <a:pPr>
              <a:defRPr sz="1500">
                <a:solidFill>
                  <a:srgbClr val="CBD5E1"/>
                </a:solidFill>
              </a:defRPr>
            </a:pPr>
            <a:r>
              <a:t>Phase 1: High-Performance C++20 Systems Architecture &amp; In-Memory Forensics Collector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4389120"/>
            <a:ext cx="4937760" cy="16459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600"/>
              </a:spcAft>
              <a:defRPr sz="1100" b="1">
                <a:solidFill>
                  <a:srgbClr val="93C5FD"/>
                </a:solidFill>
              </a:defRPr>
            </a:pPr>
            <a:r>
              <a:rPr dirty="0"/>
              <a:t>STUDENT CREDENTIALS</a:t>
            </a:r>
          </a:p>
          <a:p>
            <a:pPr>
              <a:defRPr sz="1250">
                <a:solidFill>
                  <a:srgbClr val="FFFFFF"/>
                </a:solidFill>
              </a:defRPr>
            </a:pPr>
            <a:r>
              <a:rPr dirty="0"/>
              <a:t>Swastik Mishra</a:t>
            </a:r>
            <a:r>
              <a:rPr lang="en-US" dirty="0"/>
              <a:t>-25BYB1054</a:t>
            </a:r>
          </a:p>
          <a:p>
            <a:pPr>
              <a:defRPr sz="1250">
                <a:solidFill>
                  <a:srgbClr val="FFFFFF"/>
                </a:solidFill>
              </a:defRPr>
            </a:pPr>
            <a:r>
              <a:rPr lang="en-US" dirty="0"/>
              <a:t>Rajesh B 25BYB</a:t>
            </a:r>
          </a:p>
          <a:p>
            <a:pPr>
              <a:defRPr sz="1250">
                <a:solidFill>
                  <a:srgbClr val="FFFFFF"/>
                </a:solidFill>
              </a:defRPr>
            </a:pPr>
            <a:r>
              <a:rPr lang="en-US"/>
              <a:t>Sanidhya Sharma-25BYB1114</a:t>
            </a:r>
            <a:br>
              <a:rPr dirty="0"/>
            </a:br>
            <a:r>
              <a:rPr dirty="0"/>
              <a:t>Semester: 3rd Semester | IDP </a:t>
            </a:r>
            <a:r>
              <a:rPr lang="en-IN" dirty="0"/>
              <a:t>–</a:t>
            </a:r>
            <a:r>
              <a:rPr dirty="0"/>
              <a:t> Review</a:t>
            </a:r>
            <a:r>
              <a:rPr lang="en-US" dirty="0"/>
              <a:t>-2</a:t>
            </a:r>
            <a:endParaRPr dirty="0"/>
          </a:p>
        </p:txBody>
      </p:sp>
      <p:sp>
        <p:nvSpPr>
          <p:cNvPr id="6" name="Rounded Rectangle 5"/>
          <p:cNvSpPr/>
          <p:nvPr/>
        </p:nvSpPr>
        <p:spPr>
          <a:xfrm>
            <a:off x="6309360" y="4389120"/>
            <a:ext cx="4937760" cy="16459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600"/>
              </a:spcAft>
              <a:defRPr sz="1100" b="1">
                <a:solidFill>
                  <a:srgbClr val="93C5FD"/>
                </a:solidFill>
              </a:defRPr>
            </a:pPr>
            <a:r>
              <a:t>PROJECT SUPERVISION</a:t>
            </a:r>
          </a:p>
          <a:p>
            <a:pPr>
              <a:defRPr sz="1250">
                <a:solidFill>
                  <a:srgbClr val="FFFFFF"/>
                </a:solidFill>
              </a:defRPr>
            </a:pPr>
            <a:r>
              <a:t>Faculty Guide: Dr. [Guide Name]</a:t>
            </a:r>
            <a:br/>
            <a:r>
              <a:t>Department: School of Computer Science &amp; Engineering (SCOPE)</a:t>
            </a:r>
            <a:br/>
            <a:r>
              <a:t>Vellore Institute of Technology, Vellore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1D4ED8"/>
                </a:solidFill>
                <a:latin typeface="Calibri"/>
              </a:defRPr>
            </a:pPr>
            <a:r>
              <a:t>INTER-DISCIPLINARY PROJECT (IDP) • SEMESTER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Calibri"/>
              </a:defRPr>
            </a:pPr>
            <a:r>
              <a:t>Presentation Agenda &amp; Milestone Road Map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5912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25780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182880" rtlCol="0" anchor="ctr"/>
          <a:lstStyle/>
          <a:p>
            <a:pPr algn="ctr">
              <a:spcAft>
                <a:spcPts val="400"/>
              </a:spcAft>
              <a:defRPr sz="1400" b="1">
                <a:solidFill>
                  <a:srgbClr val="0F172A"/>
                </a:solidFill>
              </a:defRPr>
            </a:pPr>
            <a:r>
              <a:t>01.  Introduction &amp; Problem Statement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Evolution of fileless in-memory attacks, process injection, and traditional AV bypass.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1554480"/>
            <a:ext cx="525780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182880" rtlCol="0" anchor="ctr"/>
          <a:lstStyle/>
          <a:p>
            <a:pPr algn="ctr">
              <a:spcAft>
                <a:spcPts val="400"/>
              </a:spcAft>
              <a:defRPr sz="1400" b="1">
                <a:solidFill>
                  <a:srgbClr val="0F172A"/>
                </a:solidFill>
              </a:defRPr>
            </a:pPr>
            <a:r>
              <a:t>02.  Literature Survey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Critical evaluation of existing memory forensics (Volatility, Rekall) and modern EDR frameworks.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108960"/>
            <a:ext cx="525780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182880" rtlCol="0" anchor="ctr"/>
          <a:lstStyle/>
          <a:p>
            <a:pPr algn="ctr">
              <a:spcAft>
                <a:spcPts val="400"/>
              </a:spcAft>
              <a:defRPr sz="1400" b="1">
                <a:solidFill>
                  <a:srgbClr val="0F172A"/>
                </a:solidFill>
              </a:defRPr>
            </a:pPr>
            <a:r>
              <a:t>03.  Challenges &amp; Research Gap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Unbacked executable memory detection, ephemeral socket tracking, and lineage integrity.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3108960"/>
            <a:ext cx="525780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182880" rtlCol="0" anchor="ctr"/>
          <a:lstStyle/>
          <a:p>
            <a:pPr algn="ctr">
              <a:spcAft>
                <a:spcPts val="400"/>
              </a:spcAft>
              <a:defRPr sz="1400" b="1">
                <a:solidFill>
                  <a:srgbClr val="0F172A"/>
                </a:solidFill>
              </a:defRPr>
            </a:pPr>
            <a:r>
              <a:t>04.  Project Objectives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Modular design objectives, multi-layered telemetry capture, and graph data modeling.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663440"/>
            <a:ext cx="525780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182880" rtlCol="0" anchor="ctr"/>
          <a:lstStyle/>
          <a:p>
            <a:pPr algn="ctr">
              <a:spcAft>
                <a:spcPts val="400"/>
              </a:spcAft>
              <a:defRPr sz="1400" b="1">
                <a:solidFill>
                  <a:srgbClr val="0F172A"/>
                </a:solidFill>
              </a:defRPr>
            </a:pPr>
            <a:r>
              <a:t>05.  Proposed Methodology &amp; Architecture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Kernel privilege elevation, Toolhelp32 snapshots, VirtualQueryEx, Shannon Entropy, and IPC.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4663440"/>
            <a:ext cx="525780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182880" rtlCol="0" anchor="ctr"/>
          <a:lstStyle/>
          <a:p>
            <a:pPr algn="ctr">
              <a:spcAft>
                <a:spcPts val="400"/>
              </a:spcAft>
              <a:defRPr sz="1400" b="1">
                <a:solidFill>
                  <a:srgbClr val="0F172A"/>
                </a:solidFill>
              </a:defRPr>
            </a:pPr>
            <a:r>
              <a:t>06.  Results &amp; Initial Implementation (Phase 1)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Complete C++20 engine verification: 327 processes, 20.6k memory regions, live JSON graph export.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1D4ED8"/>
                </a:solidFill>
                <a:latin typeface="Calibri"/>
              </a:defRPr>
            </a:pPr>
            <a:r>
              <a:t>INTER-DISCIPLINARY PROJECT (IDP) • SEMESTER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Calibri"/>
              </a:defRPr>
            </a:pPr>
            <a:r>
              <a:t>Introduction: In-Memory Threat Landscape &amp; Motivation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5912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21208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Ins="274320" rtlCol="0" anchor="ctr"/>
          <a:lstStyle/>
          <a:p>
            <a:pPr algn="ctr">
              <a:spcAft>
                <a:spcPts val="1000"/>
              </a:spcAft>
              <a:defRPr sz="1200" b="1">
                <a:solidFill>
                  <a:srgbClr val="B91C1C"/>
                </a:solidFill>
              </a:defRPr>
            </a:pPr>
            <a:r>
              <a:t>THE PROBLEM: RESIDUAL DISK-LESS MALWARE</a:t>
            </a:r>
          </a:p>
          <a:p>
            <a:pPr>
              <a:spcAft>
                <a:spcPts val="800"/>
              </a:spcAft>
              <a:defRPr sz="1150"/>
            </a:pPr>
            <a:r>
              <a:t>• </a:t>
            </a:r>
            <a:r>
              <a:rPr b="1">
                <a:solidFill>
                  <a:srgbClr val="0F172A"/>
                </a:solidFill>
              </a:rPr>
              <a:t>Fileless Execution: </a:t>
            </a:r>
            <a:r>
              <a:rPr>
                <a:solidFill>
                  <a:srgbClr val="1E293B"/>
                </a:solidFill>
              </a:rPr>
              <a:t>Modern threat actors (Cobalt Strike, Sliver, reflective DLL loaders) operate entirely in volatile RAM, bypassing traditional static disk antivirus scans.</a:t>
            </a:r>
          </a:p>
          <a:p>
            <a:pPr>
              <a:spcAft>
                <a:spcPts val="800"/>
              </a:spcAft>
              <a:defRPr sz="1150"/>
            </a:pPr>
            <a:r>
              <a:t>• </a:t>
            </a:r>
            <a:r>
              <a:rPr b="1">
                <a:solidFill>
                  <a:srgbClr val="0F172A"/>
                </a:solidFill>
              </a:rPr>
              <a:t>Process Injection: </a:t>
            </a:r>
            <a:r>
              <a:rPr>
                <a:solidFill>
                  <a:srgbClr val="1E293B"/>
                </a:solidFill>
              </a:rPr>
              <a:t>Legitimate binaries (svchost.exe, explorer.exe) are hollowed or injected with unbacked shellcode via VirtualAllocEx and WriteProcessMemory.</a:t>
            </a:r>
          </a:p>
          <a:p>
            <a:pPr>
              <a:spcAft>
                <a:spcPts val="800"/>
              </a:spcAft>
              <a:defRPr sz="1150"/>
            </a:pPr>
            <a:r>
              <a:t>• </a:t>
            </a:r>
            <a:r>
              <a:rPr b="1">
                <a:solidFill>
                  <a:srgbClr val="0F172A"/>
                </a:solidFill>
              </a:rPr>
              <a:t>Living-off-the-Land (LotL): </a:t>
            </a:r>
            <a:r>
              <a:rPr>
                <a:solidFill>
                  <a:srgbClr val="1E293B"/>
                </a:solidFill>
              </a:rPr>
              <a:t>Adversaries abuse native administrative tools (PowerShell, WMI, mshta) without introducing foreign PE files to disk.</a:t>
            </a:r>
          </a:p>
          <a:p>
            <a:pPr>
              <a:spcAft>
                <a:spcPts val="800"/>
              </a:spcAft>
              <a:defRPr sz="1150"/>
            </a:pPr>
            <a:r>
              <a:t>• </a:t>
            </a:r>
            <a:r>
              <a:rPr b="1">
                <a:solidFill>
                  <a:srgbClr val="0F172A"/>
                </a:solidFill>
              </a:rPr>
              <a:t>Defensive Blind Spot: </a:t>
            </a:r>
            <a:r>
              <a:rPr>
                <a:solidFill>
                  <a:srgbClr val="1E293B"/>
                </a:solidFill>
              </a:rPr>
              <a:t>Standard OS utilities (Task Manager, netstat) display static metadata without cross-referencing execution lineage with memory backing attributes.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554480"/>
            <a:ext cx="5212080" cy="4663440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Ins="274320" rtlCol="0" anchor="ctr"/>
          <a:lstStyle/>
          <a:p>
            <a:pPr algn="ctr">
              <a:spcAft>
                <a:spcPts val="1000"/>
              </a:spcAft>
              <a:defRPr sz="1200" b="1">
                <a:solidFill>
                  <a:srgbClr val="1D4ED8"/>
                </a:solidFill>
              </a:defRPr>
            </a:pPr>
            <a:r>
              <a:t>PROJECT MOTIVATION &amp; TECHNICAL APPROACH</a:t>
            </a:r>
          </a:p>
          <a:p>
            <a:pPr>
              <a:spcAft>
                <a:spcPts val="800"/>
              </a:spcAft>
              <a:defRPr sz="1150"/>
            </a:pPr>
            <a:r>
              <a:t>• </a:t>
            </a:r>
            <a:r>
              <a:rPr b="1">
                <a:solidFill>
                  <a:srgbClr val="0F172A"/>
                </a:solidFill>
              </a:rPr>
              <a:t>Kernel-Level Privileges: </a:t>
            </a:r>
            <a:r>
              <a:rPr>
                <a:solidFill>
                  <a:srgbClr val="1E293B"/>
                </a:solidFill>
              </a:rPr>
              <a:t>Leveraging SeDebugPrivilege to gain unfettered inspection capability across system-level and service processes.</a:t>
            </a:r>
          </a:p>
          <a:p>
            <a:pPr>
              <a:spcAft>
                <a:spcPts val="800"/>
              </a:spcAft>
              <a:defRPr sz="1150"/>
            </a:pPr>
            <a:r>
              <a:t>• </a:t>
            </a:r>
            <a:r>
              <a:rPr b="1">
                <a:solidFill>
                  <a:srgbClr val="0F172A"/>
                </a:solidFill>
              </a:rPr>
              <a:t>In-Memory Page Auditing: </a:t>
            </a:r>
            <a:r>
              <a:rPr>
                <a:solidFill>
                  <a:srgbClr val="1E293B"/>
                </a:solidFill>
              </a:rPr>
              <a:t>Distinguishing between file-backed images (MEM_IMAGE) and dynamically allocated private executable memory (MEM_PRIVATE + RWX).</a:t>
            </a:r>
          </a:p>
          <a:p>
            <a:pPr>
              <a:spcAft>
                <a:spcPts val="800"/>
              </a:spcAft>
              <a:defRPr sz="1150"/>
            </a:pPr>
            <a:r>
              <a:t>• </a:t>
            </a:r>
            <a:r>
              <a:rPr b="1">
                <a:solidFill>
                  <a:srgbClr val="0F172A"/>
                </a:solidFill>
              </a:rPr>
              <a:t>Shannon Entropy Forensics: </a:t>
            </a:r>
            <a:r>
              <a:rPr>
                <a:solidFill>
                  <a:srgbClr val="1E293B"/>
                </a:solidFill>
              </a:rPr>
              <a:t>Real-time mathematical entropy computation over allocated buffers to expose encrypted shellcode payloads and NOP sleds.</a:t>
            </a:r>
          </a:p>
          <a:p>
            <a:pPr>
              <a:spcAft>
                <a:spcPts val="800"/>
              </a:spcAft>
              <a:defRPr sz="1150"/>
            </a:pPr>
            <a:r>
              <a:t>• </a:t>
            </a:r>
            <a:r>
              <a:rPr b="1">
                <a:solidFill>
                  <a:srgbClr val="0F172A"/>
                </a:solidFill>
              </a:rPr>
              <a:t>Graph-Structured Telemetry: </a:t>
            </a:r>
            <a:r>
              <a:rPr>
                <a:solidFill>
                  <a:srgbClr val="1E293B"/>
                </a:solidFill>
              </a:rPr>
              <a:t>Unifying processes, memory regions, and ephemeral sockets into a topological Graph representation G = (V, E) for downstream graph machine learning.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1D4ED8"/>
                </a:solidFill>
                <a:latin typeface="Calibri"/>
              </a:defRPr>
            </a:pPr>
            <a:r>
              <a:t>INTER-DISCIPLINARY PROJECT (IDP) • SEMESTER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Calibri"/>
              </a:defRPr>
            </a:pPr>
            <a:r>
              <a:t>Literature Survey: Comparative Analysis of State-of-the-Art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5912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463040"/>
          <a:ext cx="10725912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391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932688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Author &amp; Year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Approach / Methodology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Key Advantages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Critical Limitations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Relevance to IDP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32688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F172A"/>
                          </a:solidFill>
                        </a:defRPr>
                      </a:pPr>
                      <a:r>
                        <a:t>Dolan-Gavitt et al.</a:t>
                      </a:r>
                      <a:br/>
                      <a:r>
                        <a:t>(IEEE S&amp;P)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Virtual Machine Introspection (VMI) &amp; Memory Forensics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Hypervisor isolation; completely invisible to guest malware.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Extreme runtime overhead; cannot execute on bare-metal endpoints.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Establishes baseline for memory-resident artifact discovery.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32688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F172A"/>
                          </a:solidFill>
                        </a:defRPr>
                      </a:pPr>
                      <a:r>
                        <a:t>Case &amp; Richard</a:t>
                      </a:r>
                      <a:br/>
                      <a:r>
                        <a:t>(Digital Investigation)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Post-mortem raw dump analysis (Volatility / Rekall)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Comprehensive kernel struct reconstruction via PDB symbols.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Offline only; completely misses ephemeral network sockets and dynamic threads.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Demonstrates need for live, low-latency in-memory telemetry.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32688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F172A"/>
                          </a:solidFill>
                        </a:defRPr>
                      </a:pPr>
                      <a:r>
                        <a:t>Al-Dujaili et al.</a:t>
                      </a:r>
                      <a:br/>
                      <a:r>
                        <a:t>(ACM CCS)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Endpoint Detection &amp; Response (EDR) API Hooking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Intercepts user-mode Win32 API calls before execution.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Vulnerable to Direct System Calls, Syswhispers, and NTDLL unhooking.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Highlights need to query kernel memory tables directly rather than hooks.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32688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F172A"/>
                          </a:solidFill>
                        </a:defRPr>
                      </a:pPr>
                      <a:r>
                        <a:t>MITRE ATT&amp;CK</a:t>
                      </a:r>
                      <a:br/>
                      <a:r>
                        <a:t>(Framework Spec)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T1055: Process Injection &amp; T1059: Command Line Abuse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Comprehensive taxonomic categorization of in-memory attacks.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Taxonomy only; lacks unified automated collection engines.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Defines functional requirements for our graph telemetry schema.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1D4ED8"/>
                </a:solidFill>
                <a:latin typeface="Calibri"/>
              </a:defRPr>
            </a:pPr>
            <a:r>
              <a:t>INTER-DISCIPLINARY PROJECT (IDP) • SEMESTER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Calibri"/>
              </a:defRPr>
            </a:pPr>
            <a:r>
              <a:t>Identified Challenges &amp; Research Gaps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5912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10725912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164592" rtlCol="0" anchor="ctr"/>
          <a:lstStyle/>
          <a:p>
            <a:pPr algn="ctr">
              <a:spcAft>
                <a:spcPts val="300"/>
              </a:spcAft>
              <a:defRPr sz="1200" b="1">
                <a:solidFill>
                  <a:srgbClr val="1D4ED8"/>
                </a:solidFill>
              </a:defRPr>
            </a:pPr>
            <a:r>
              <a:t>CHALLENGE 1: UNBACKED EXECUTABLE MEMORY</a:t>
            </a:r>
          </a:p>
          <a:p>
            <a:pPr>
              <a:spcAft>
                <a:spcPts val="200"/>
              </a:spcAft>
              <a:defRPr sz="1050">
                <a:solidFill>
                  <a:srgbClr val="1E293B"/>
                </a:solidFill>
              </a:defRPr>
            </a:pPr>
            <a:r>
              <a:t>• Technical Barrier: When a PE binary loads normally, memory pages are backed by the PE file on disk (MEM_IMAGE). Attackers allocate raw memory with VirtualAlloc(PAGE_EXECUTE_READWRITE) leaving no disk footprint (MEM_PRIVATE). Detecting these pages requires exhaustive virtual page walking.</a:t>
            </a:r>
          </a:p>
          <a:p>
            <a:pPr>
              <a:defRPr sz="1050" b="1">
                <a:solidFill>
                  <a:srgbClr val="B91C1C"/>
                </a:solidFill>
              </a:defRPr>
            </a:pPr>
            <a:r>
              <a:t>• Unaddressed Gap: RESEARCH GAP: Contemporary tools either ignore private memory or produce enormous false positive rates by failing to couple unbacked memory with process spawn lineage.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108960"/>
            <a:ext cx="10725912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164592" rtlCol="0" anchor="ctr"/>
          <a:lstStyle/>
          <a:p>
            <a:pPr algn="ctr">
              <a:spcAft>
                <a:spcPts val="300"/>
              </a:spcAft>
              <a:defRPr sz="1200" b="1">
                <a:solidFill>
                  <a:srgbClr val="1D4ED8"/>
                </a:solidFill>
              </a:defRPr>
            </a:pPr>
            <a:r>
              <a:t>CHALLENGE 2: SHORT-LIVED EPHEMERAL SOCKET ATTRIBUTION</a:t>
            </a:r>
          </a:p>
          <a:p>
            <a:pPr>
              <a:spcAft>
                <a:spcPts val="200"/>
              </a:spcAft>
              <a:defRPr sz="1050">
                <a:solidFill>
                  <a:srgbClr val="1E293B"/>
                </a:solidFill>
              </a:defRPr>
            </a:pPr>
            <a:r>
              <a:t>• Technical Barrier: Advanced C2 frameworks (e.g. DNS tunneling, HTTP beaconing) establish micro-connections that close within milliseconds. Standard polling tools miss these connections completely.</a:t>
            </a:r>
          </a:p>
          <a:p>
            <a:pPr>
              <a:defRPr sz="1050" b="1">
                <a:solidFill>
                  <a:srgbClr val="B91C1C"/>
                </a:solidFill>
              </a:defRPr>
            </a:pPr>
            <a:r>
              <a:t>• Unaddressed Gap: RESEARCH GAP: Lack of synchronized PID-to-Socket mapping directly integrated with process virtual memory state snapshots at the moment of inspection.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709160"/>
            <a:ext cx="10725912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164592" rtlCol="0" anchor="ctr"/>
          <a:lstStyle/>
          <a:p>
            <a:pPr algn="ctr">
              <a:spcAft>
                <a:spcPts val="300"/>
              </a:spcAft>
              <a:defRPr sz="1200" b="1">
                <a:solidFill>
                  <a:srgbClr val="1D4ED8"/>
                </a:solidFill>
              </a:defRPr>
            </a:pPr>
            <a:r>
              <a:t>CHALLENGE 3: PAYLOAD ENCRYPTION &amp; OBFUSCATION</a:t>
            </a:r>
          </a:p>
          <a:p>
            <a:pPr>
              <a:spcAft>
                <a:spcPts val="200"/>
              </a:spcAft>
              <a:defRPr sz="1050">
                <a:solidFill>
                  <a:srgbClr val="1E293B"/>
                </a:solidFill>
              </a:defRPr>
            </a:pPr>
            <a:r>
              <a:t>• Technical Barrier: Injected shellcode is frequently XOR-encoded, compressed, or encrypted in memory until execution begins, rendering static keyword scanning useless.</a:t>
            </a:r>
          </a:p>
          <a:p>
            <a:pPr>
              <a:defRPr sz="1050" b="1">
                <a:solidFill>
                  <a:srgbClr val="B91C1C"/>
                </a:solidFill>
              </a:defRPr>
            </a:pPr>
            <a:r>
              <a:t>• Unaddressed Gap: RESEARCH GAP: Need for fast, lightweight in-line Shannon Entropy computation on committed executable pages to quantify randomness without full disassembly.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1D4ED8"/>
                </a:solidFill>
                <a:latin typeface="Calibri"/>
              </a:defRPr>
            </a:pPr>
            <a:r>
              <a:t>INTER-DISCIPLINARY PROJECT (IDP) • SEMESTER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Calibri"/>
              </a:defRPr>
            </a:pPr>
            <a:r>
              <a:t>Project Objectives &amp; Phased Deliverable Roadmap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5912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3447288" cy="470916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rtlCol="0" anchor="ctr"/>
          <a:lstStyle/>
          <a:p>
            <a:pPr algn="ctr">
              <a:spcAft>
                <a:spcPts val="400"/>
              </a:spcAft>
              <a:defRPr sz="1000" b="1">
                <a:solidFill>
                  <a:srgbClr val="1D4ED8"/>
                </a:solidFill>
              </a:defRPr>
            </a:pPr>
            <a:r>
              <a:t>PHASE 1 (COMPLETED - CURRENT MILESTONE)</a:t>
            </a:r>
          </a:p>
          <a:p>
            <a:pPr>
              <a:spcAft>
                <a:spcPts val="1000"/>
              </a:spcAft>
              <a:defRPr sz="1300" b="1">
                <a:solidFill>
                  <a:srgbClr val="0F172A"/>
                </a:solidFill>
              </a:defRPr>
            </a:pPr>
            <a:r>
              <a:t>High-Performance C++20 Telemetry Engine</a:t>
            </a:r>
          </a:p>
          <a:p>
            <a:pPr>
              <a:spcAft>
                <a:spcPts val="400"/>
              </a:spcAft>
              <a:defRPr sz="1000">
                <a:solidFill>
                  <a:srgbClr val="0F172A"/>
                </a:solidFill>
              </a:defRPr>
            </a:pPr>
            <a:r>
              <a:t>✔ Architect zero-dependency C++20 telemetry engine.</a:t>
            </a:r>
          </a:p>
          <a:p>
            <a:pPr>
              <a:spcAft>
                <a:spcPts val="400"/>
              </a:spcAft>
              <a:defRPr sz="1000">
                <a:solidFill>
                  <a:srgbClr val="0F172A"/>
                </a:solidFill>
              </a:defRPr>
            </a:pPr>
            <a:r>
              <a:t>✔ Acquire SeDebugPrivilege to access privileged processes.</a:t>
            </a:r>
          </a:p>
          <a:p>
            <a:pPr>
              <a:spcAft>
                <a:spcPts val="400"/>
              </a:spcAft>
              <a:defRPr sz="1000">
                <a:solidFill>
                  <a:srgbClr val="0F172A"/>
                </a:solidFill>
              </a:defRPr>
            </a:pPr>
            <a:r>
              <a:t>✔ Enumerate running processes, threads, and loaded DLL modules.</a:t>
            </a:r>
          </a:p>
          <a:p>
            <a:pPr>
              <a:spcAft>
                <a:spcPts val="400"/>
              </a:spcAft>
              <a:defRPr sz="1000">
                <a:solidFill>
                  <a:srgbClr val="0F172A"/>
                </a:solidFill>
              </a:defRPr>
            </a:pPr>
            <a:r>
              <a:t>✔ Traverse virtual address space with VirtualQueryEx.</a:t>
            </a:r>
          </a:p>
          <a:p>
            <a:pPr>
              <a:spcAft>
                <a:spcPts val="400"/>
              </a:spcAft>
              <a:defRPr sz="1000">
                <a:solidFill>
                  <a:srgbClr val="0F172A"/>
                </a:solidFill>
              </a:defRPr>
            </a:pPr>
            <a:r>
              <a:t>✔ Identify unbacked executable memory (MEM_PRIVATE + RWX).</a:t>
            </a:r>
          </a:p>
          <a:p>
            <a:pPr>
              <a:spcAft>
                <a:spcPts val="400"/>
              </a:spcAft>
              <a:defRPr sz="1000">
                <a:solidFill>
                  <a:srgbClr val="0F172A"/>
                </a:solidFill>
              </a:defRPr>
            </a:pPr>
            <a:r>
              <a:t>✔ Compute Shannon Entropy H(X) over committed pages.</a:t>
            </a:r>
          </a:p>
          <a:p>
            <a:pPr>
              <a:spcAft>
                <a:spcPts val="400"/>
              </a:spcAft>
              <a:defRPr sz="1000">
                <a:solidFill>
                  <a:srgbClr val="0F172A"/>
                </a:solidFill>
              </a:defRPr>
            </a:pPr>
            <a:r>
              <a:t>✔ Map TCP/UDP IPv4 &amp; IPv6 sockets to owning PIDs.</a:t>
            </a:r>
          </a:p>
          <a:p>
            <a:pPr>
              <a:spcAft>
                <a:spcPts val="400"/>
              </a:spcAft>
              <a:defRPr sz="1000">
                <a:solidFill>
                  <a:srgbClr val="0F172A"/>
                </a:solidFill>
              </a:defRPr>
            </a:pPr>
            <a:r>
              <a:t>✔ Output structured Graph JSON (Nodes &amp; Edges).</a:t>
            </a:r>
          </a:p>
          <a:p>
            <a:br/>
            <a:r>
              <a:t>Status: 100% Implemented &amp; Tested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70832" y="1508760"/>
            <a:ext cx="3447288" cy="4709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rtlCol="0" anchor="ctr"/>
          <a:lstStyle/>
          <a:p>
            <a:pPr algn="ctr">
              <a:spcAft>
                <a:spcPts val="400"/>
              </a:spcAft>
              <a:defRPr sz="1000" b="1">
                <a:solidFill>
                  <a:srgbClr val="475569"/>
                </a:solidFill>
              </a:defRPr>
            </a:pPr>
            <a:r>
              <a:t>PHASE 2 (PLANNED - SEMESTER 3/4)</a:t>
            </a:r>
          </a:p>
          <a:p>
            <a:pPr>
              <a:spcAft>
                <a:spcPts val="1000"/>
              </a:spcAft>
              <a:defRPr sz="1300" b="1">
                <a:solidFill>
                  <a:srgbClr val="0F172A"/>
                </a:solidFill>
              </a:defRPr>
            </a:pPr>
            <a:r>
              <a:t>Anomaly Detection &amp; Behavioral Heuristics</a:t>
            </a:r>
          </a:p>
          <a:p>
            <a:pPr>
              <a:spcAft>
                <a:spcPts val="400"/>
              </a:spcAft>
              <a:defRPr sz="1000">
                <a:solidFill>
                  <a:srgbClr val="1E293B"/>
                </a:solidFill>
              </a:defRPr>
            </a:pPr>
            <a:r>
              <a:t>• Threshold-based entropy classification (H &gt; 7.0 = Beacon).</a:t>
            </a:r>
          </a:p>
          <a:p>
            <a:pPr>
              <a:spcAft>
                <a:spcPts val="400"/>
              </a:spcAft>
              <a:defRPr sz="1000">
                <a:solidFill>
                  <a:srgbClr val="1E293B"/>
                </a:solidFill>
              </a:defRPr>
            </a:pPr>
            <a:r>
              <a:t>• Detection of Parent-PID Spoofing via lineage verification.</a:t>
            </a:r>
          </a:p>
          <a:p>
            <a:pPr>
              <a:spcAft>
                <a:spcPts val="400"/>
              </a:spcAft>
              <a:defRPr sz="1000">
                <a:solidFill>
                  <a:srgbClr val="1E293B"/>
                </a:solidFill>
              </a:defRPr>
            </a:pPr>
            <a:r>
              <a:t>• Identification of Known Cobalt Strike / Metasploit signatures.</a:t>
            </a:r>
          </a:p>
          <a:p>
            <a:pPr>
              <a:spcAft>
                <a:spcPts val="400"/>
              </a:spcAft>
              <a:defRPr sz="1000">
                <a:solidFill>
                  <a:srgbClr val="1E293B"/>
                </a:solidFill>
              </a:defRPr>
            </a:pPr>
            <a:r>
              <a:t>• Module anomaly detection (Unhooked / Unmapped DLLs).</a:t>
            </a:r>
          </a:p>
          <a:p>
            <a:pPr>
              <a:spcAft>
                <a:spcPts val="400"/>
              </a:spcAft>
              <a:defRPr sz="1000">
                <a:solidFill>
                  <a:srgbClr val="1E293B"/>
                </a:solidFill>
              </a:defRPr>
            </a:pPr>
            <a:r>
              <a:t>• Live kernel event tracing using ETW (Event Tracing for Windows).</a:t>
            </a:r>
          </a:p>
          <a:p>
            <a:br/>
            <a:r>
              <a:t>Status: Next Milestone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10144" y="1508760"/>
            <a:ext cx="3447288" cy="4709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rtlCol="0" anchor="ctr"/>
          <a:lstStyle/>
          <a:p>
            <a:pPr algn="ctr">
              <a:spcAft>
                <a:spcPts val="400"/>
              </a:spcAft>
              <a:defRPr sz="1000" b="1">
                <a:solidFill>
                  <a:srgbClr val="475569"/>
                </a:solidFill>
              </a:defRPr>
            </a:pPr>
            <a:r>
              <a:t>PHASE 3 (PLANNED - FINAL IDP GOAL)</a:t>
            </a:r>
          </a:p>
          <a:p>
            <a:pPr>
              <a:spcAft>
                <a:spcPts val="1000"/>
              </a:spcAft>
              <a:defRPr sz="1300" b="1">
                <a:solidFill>
                  <a:srgbClr val="0F172A"/>
                </a:solidFill>
              </a:defRPr>
            </a:pPr>
            <a:r>
              <a:t>Graph Neural Network (GNN) Forensics</a:t>
            </a:r>
          </a:p>
          <a:p>
            <a:pPr>
              <a:spcAft>
                <a:spcPts val="400"/>
              </a:spcAft>
              <a:defRPr sz="1000">
                <a:solidFill>
                  <a:srgbClr val="1E293B"/>
                </a:solidFill>
              </a:defRPr>
            </a:pPr>
            <a:r>
              <a:t>• Construct dynamic Provenance Graph from JSON schema.</a:t>
            </a:r>
          </a:p>
          <a:p>
            <a:pPr>
              <a:spcAft>
                <a:spcPts val="400"/>
              </a:spcAft>
              <a:defRPr sz="1000">
                <a:solidFill>
                  <a:srgbClr val="1E293B"/>
                </a:solidFill>
              </a:defRPr>
            </a:pPr>
            <a:r>
              <a:t>• Train Relational Graph Convolutional Network (R-GCN).</a:t>
            </a:r>
          </a:p>
          <a:p>
            <a:pPr>
              <a:spcAft>
                <a:spcPts val="400"/>
              </a:spcAft>
              <a:defRPr sz="1000">
                <a:solidFill>
                  <a:srgbClr val="1E293B"/>
                </a:solidFill>
              </a:defRPr>
            </a:pPr>
            <a:r>
              <a:t>• Automate APT attack path reconstruction.</a:t>
            </a:r>
          </a:p>
          <a:p>
            <a:pPr>
              <a:spcAft>
                <a:spcPts val="400"/>
              </a:spcAft>
              <a:defRPr sz="1000">
                <a:solidFill>
                  <a:srgbClr val="1E293B"/>
                </a:solidFill>
              </a:defRPr>
            </a:pPr>
            <a:r>
              <a:t>• Sub-second lateral movement detection and alerting.</a:t>
            </a:r>
          </a:p>
          <a:p>
            <a:pPr>
              <a:spcAft>
                <a:spcPts val="400"/>
              </a:spcAft>
              <a:defRPr sz="1000">
                <a:solidFill>
                  <a:srgbClr val="1E293B"/>
                </a:solidFill>
              </a:defRPr>
            </a:pPr>
            <a:r>
              <a:t>• Interactive visualization web UI for SOC analysts.</a:t>
            </a:r>
          </a:p>
          <a:p>
            <a:br/>
            <a:r>
              <a:t>Status: Future Scope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1D4ED8"/>
                </a:solidFill>
                <a:latin typeface="Calibri"/>
              </a:defRPr>
            </a:pPr>
            <a:r>
              <a:t>INTER-DISCIPLINARY PROJECT (IDP) • SEMESTER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Calibri"/>
              </a:defRPr>
            </a:pPr>
            <a:r>
              <a:t>Methodology &amp; Multi-Tier System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5912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640080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09728" rtlCol="0" anchor="ctr"/>
          <a:lstStyle/>
          <a:p>
            <a:pPr algn="ctr">
              <a:spcAft>
                <a:spcPts val="200"/>
              </a:spcAft>
              <a:defRPr sz="1100" b="1">
                <a:solidFill>
                  <a:srgbClr val="0F172A"/>
                </a:solidFill>
              </a:defRPr>
            </a:pPr>
            <a:r>
              <a:t>MODULE 1: PRIVILEGE ACQUISITION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OpenProcessToken() &amp; AdjustTokenPrivileges() requests SeDebugPrivilege to bypass DACL restrictions and access protected system memory.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468880"/>
            <a:ext cx="640080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09728" rtlCol="0" anchor="ctr"/>
          <a:lstStyle/>
          <a:p>
            <a:pPr algn="ctr">
              <a:spcAft>
                <a:spcPts val="200"/>
              </a:spcAft>
              <a:defRPr sz="1100" b="1">
                <a:solidFill>
                  <a:srgbClr val="0F172A"/>
                </a:solidFill>
              </a:defRPr>
            </a:pPr>
            <a:r>
              <a:t>MODULE 2: PROCESS &amp; THREAD DISCOVERY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CreateToolhelp32Snapshot() gathers PIDs, PPIDs, and thread lists. EnumProcessModulesEx() maps loaded 32/64-bit DLL bases and sizes.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429000"/>
            <a:ext cx="6400800" cy="84124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09728" rtlCol="0" anchor="ctr"/>
          <a:lstStyle/>
          <a:p>
            <a:pPr algn="ctr">
              <a:spcAft>
                <a:spcPts val="200"/>
              </a:spcAft>
              <a:defRPr sz="1100" b="1">
                <a:solidFill>
                  <a:srgbClr val="0F172A"/>
                </a:solidFill>
              </a:defRPr>
            </a:pPr>
            <a:r>
              <a:t>MODULE 3: IN-MEMORY PAGE AUDITOR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VirtualQueryEx() iterates memory pages. Committed private pages with Execute permissions (MEM_PRIVATE + RWX) are flagged as unbacked.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389120"/>
            <a:ext cx="640080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09728" rtlCol="0" anchor="ctr"/>
          <a:lstStyle/>
          <a:p>
            <a:pPr algn="ctr">
              <a:spcAft>
                <a:spcPts val="200"/>
              </a:spcAft>
              <a:defRPr sz="1100" b="1">
                <a:solidFill>
                  <a:srgbClr val="0F172A"/>
                </a:solidFill>
              </a:defRPr>
            </a:pPr>
            <a:r>
              <a:t>MODULE 4: SHANNON ENTROPY ENGINE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Computes H(X) = -sum(p_i * log2(p_i)) over sampled memory blocks (0.0 to 8.0). High entropy (&gt;7.0) indicates packed/encrypted payloads.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06640" y="1508760"/>
            <a:ext cx="4050791" cy="466344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Ins="274320" rtlCol="0" anchor="ctr"/>
          <a:lstStyle/>
          <a:p>
            <a:pPr algn="ctr">
              <a:spcAft>
                <a:spcPts val="1000"/>
              </a:spcAft>
              <a:defRPr sz="1200" b="1">
                <a:solidFill>
                  <a:srgbClr val="93C5FD"/>
                </a:solidFill>
              </a:defRPr>
            </a:pPr>
            <a:r>
              <a:t>OUTPUT GRAPH TOPOLOGY: G = (V, E)</a:t>
            </a:r>
          </a:p>
          <a:p>
            <a:pPr>
              <a:spcAft>
                <a:spcPts val="200"/>
              </a:spcAft>
              <a:defRPr sz="1050" b="1">
                <a:solidFill>
                  <a:srgbClr val="FDE047"/>
                </a:solidFill>
              </a:defRPr>
            </a:pPr>
            <a:r>
              <a:t>NODES (Vertices V):</a:t>
            </a:r>
          </a:p>
          <a:p>
            <a:pPr>
              <a:spcAft>
                <a:spcPts val="300"/>
              </a:spcAft>
              <a:defRPr sz="1050" b="1">
                <a:solidFill>
                  <a:srgbClr val="E2E8F0"/>
                </a:solidFill>
              </a:defRPr>
            </a:pPr>
            <a:r>
              <a:t>• ProcessNode: </a:t>
            </a:r>
            <a:r>
              <a:rPr b="0">
                <a:solidFill>
                  <a:srgbClr val="CBD5E1"/>
                </a:solidFill>
              </a:rPr>
              <a:t>PID, PPID, Image Name, Image Path, Thread List, Module Map.</a:t>
            </a:r>
          </a:p>
          <a:p>
            <a:pPr>
              <a:spcAft>
                <a:spcPts val="300"/>
              </a:spcAft>
              <a:defRPr sz="1050" b="1">
                <a:solidFill>
                  <a:srgbClr val="E2E8F0"/>
                </a:solidFill>
              </a:defRPr>
            </a:pPr>
            <a:r>
              <a:t>• MemoryRegionNode: </a:t>
            </a:r>
            <a:r>
              <a:rPr b="0">
                <a:solidFill>
                  <a:srgbClr val="CBD5E1"/>
                </a:solidFill>
              </a:rPr>
              <a:t>Base Address, Size, Protect (RWX), State, Unbacked Flag, Shannon Entropy.</a:t>
            </a:r>
          </a:p>
          <a:p>
            <a:pPr>
              <a:spcAft>
                <a:spcPts val="300"/>
              </a:spcAft>
              <a:defRPr sz="1050" b="1">
                <a:solidFill>
                  <a:srgbClr val="E2E8F0"/>
                </a:solidFill>
              </a:defRPr>
            </a:pPr>
            <a:r>
              <a:t>• SocketNode: </a:t>
            </a:r>
            <a:r>
              <a:rPr b="0">
                <a:solidFill>
                  <a:srgbClr val="CBD5E1"/>
                </a:solidFill>
              </a:rPr>
              <a:t>Protocol (TCP/UDP), Local/Remote IP:Port, TCP State, Owning PID.
</a:t>
            </a:r>
          </a:p>
          <a:p>
            <a:pPr>
              <a:spcAft>
                <a:spcPts val="200"/>
              </a:spcAft>
              <a:defRPr sz="1050" b="1">
                <a:solidFill>
                  <a:srgbClr val="FDE047"/>
                </a:solidFill>
              </a:defRPr>
            </a:pPr>
            <a:r>
              <a:t>EDGES (Relationships E):</a:t>
            </a:r>
          </a:p>
          <a:p>
            <a:pPr>
              <a:spcAft>
                <a:spcPts val="300"/>
              </a:spcAft>
              <a:defRPr sz="1050" b="1">
                <a:solidFill>
                  <a:srgbClr val="E2E8F0"/>
                </a:solidFill>
              </a:defRPr>
            </a:pPr>
            <a:r>
              <a:t>• Spawns: </a:t>
            </a:r>
            <a:r>
              <a:rPr b="0">
                <a:solidFill>
                  <a:srgbClr val="CBD5E1"/>
                </a:solidFill>
              </a:rPr>
              <a:t>Parent PID -&gt; Child PID (process hierarchy).</a:t>
            </a:r>
          </a:p>
          <a:p>
            <a:pPr>
              <a:spcAft>
                <a:spcPts val="300"/>
              </a:spcAft>
              <a:defRPr sz="1050" b="1">
                <a:solidFill>
                  <a:srgbClr val="E2E8F0"/>
                </a:solidFill>
              </a:defRPr>
            </a:pPr>
            <a:r>
              <a:t>• HasMemory: </a:t>
            </a:r>
            <a:r>
              <a:rPr b="0">
                <a:solidFill>
                  <a:srgbClr val="CBD5E1"/>
                </a:solidFill>
              </a:rPr>
              <a:t>PID -&gt; Memory Region ID.</a:t>
            </a:r>
          </a:p>
          <a:p>
            <a:pPr>
              <a:spcAft>
                <a:spcPts val="300"/>
              </a:spcAft>
              <a:defRPr sz="1050" b="1">
                <a:solidFill>
                  <a:srgbClr val="E2E8F0"/>
                </a:solidFill>
              </a:defRPr>
            </a:pPr>
            <a:r>
              <a:t>• ConnectedTo: </a:t>
            </a:r>
            <a:r>
              <a:rPr b="0">
                <a:solidFill>
                  <a:srgbClr val="CBD5E1"/>
                </a:solidFill>
              </a:rPr>
              <a:t>PID -&gt; Socket ID (network attribution).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1D4ED8"/>
                </a:solidFill>
                <a:latin typeface="Calibri"/>
              </a:defRPr>
            </a:pPr>
            <a:r>
              <a:t>INTER-DISCIPLINARY PROJECT (IDP) • SEMESTER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Calibri"/>
              </a:defRPr>
            </a:pPr>
            <a:r>
              <a:t>Initial Implementation &amp; Live Prototype Demonstration (Phase 1)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5912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2542032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rtlCol="0" anchor="ctr"/>
          <a:lstStyle/>
          <a:p>
            <a:pPr algn="ctr">
              <a:spcAft>
                <a:spcPts val="100"/>
              </a:spcAft>
              <a:defRPr sz="2200" b="1">
                <a:solidFill>
                  <a:srgbClr val="0F172A"/>
                </a:solidFill>
              </a:defRPr>
            </a:pPr>
            <a:r>
              <a:t>14.5 s</a:t>
            </a:r>
          </a:p>
          <a:p>
            <a:pPr>
              <a:defRPr sz="1100" b="1">
                <a:solidFill>
                  <a:srgbClr val="1E293B"/>
                </a:solidFill>
              </a:defRPr>
            </a:pPr>
            <a:r>
              <a:t>Scan Duration</a:t>
            </a:r>
          </a:p>
          <a:p>
            <a:pPr>
              <a:defRPr sz="900">
                <a:solidFill>
                  <a:srgbClr val="475569"/>
                </a:solidFill>
              </a:defRPr>
            </a:pPr>
            <a:r>
              <a:t>High-efficiency C++20 engine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56432" y="1508760"/>
            <a:ext cx="2542032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rtlCol="0" anchor="ctr"/>
          <a:lstStyle/>
          <a:p>
            <a:pPr algn="ctr">
              <a:spcAft>
                <a:spcPts val="100"/>
              </a:spcAft>
              <a:defRPr sz="2200" b="1">
                <a:solidFill>
                  <a:srgbClr val="0F172A"/>
                </a:solidFill>
              </a:defRPr>
            </a:pPr>
            <a:r>
              <a:t>327</a:t>
            </a:r>
          </a:p>
          <a:p>
            <a:pPr>
              <a:defRPr sz="1100" b="1">
                <a:solidFill>
                  <a:srgbClr val="1E293B"/>
                </a:solidFill>
              </a:defRPr>
            </a:pPr>
            <a:r>
              <a:t>Processes Enumerated</a:t>
            </a:r>
          </a:p>
          <a:p>
            <a:pPr>
              <a:defRPr sz="900">
                <a:solidFill>
                  <a:srgbClr val="475569"/>
                </a:solidFill>
              </a:defRPr>
            </a:pPr>
            <a:r>
              <a:t>6,338 threads linked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81344" y="1508760"/>
            <a:ext cx="2542032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rtlCol="0" anchor="ctr"/>
          <a:lstStyle/>
          <a:p>
            <a:pPr algn="ctr">
              <a:spcAft>
                <a:spcPts val="100"/>
              </a:spcAft>
              <a:defRPr sz="2200" b="1">
                <a:solidFill>
                  <a:srgbClr val="0F172A"/>
                </a:solidFill>
              </a:defRPr>
            </a:pPr>
            <a:r>
              <a:t>20,643</a:t>
            </a:r>
          </a:p>
          <a:p>
            <a:pPr>
              <a:defRPr sz="1100" b="1">
                <a:solidFill>
                  <a:srgbClr val="1E293B"/>
                </a:solidFill>
              </a:defRPr>
            </a:pPr>
            <a:r>
              <a:t>Executable Regions</a:t>
            </a:r>
          </a:p>
          <a:p>
            <a:pPr>
              <a:defRPr sz="900">
                <a:solidFill>
                  <a:srgbClr val="475569"/>
                </a:solidFill>
              </a:defRPr>
            </a:pPr>
            <a:r>
              <a:t>Traversed via VirtualQueryEx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906256" y="1508760"/>
            <a:ext cx="2542032" cy="1234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rtlCol="0" anchor="ctr"/>
          <a:lstStyle/>
          <a:p>
            <a:pPr algn="ctr">
              <a:spcAft>
                <a:spcPts val="100"/>
              </a:spcAft>
              <a:defRPr sz="2200" b="1">
                <a:solidFill>
                  <a:srgbClr val="B91C1C"/>
                </a:solidFill>
              </a:defRPr>
            </a:pPr>
            <a:r>
              <a:t>427</a:t>
            </a:r>
          </a:p>
          <a:p>
            <a:pPr>
              <a:defRPr sz="1100" b="1">
                <a:solidFill>
                  <a:srgbClr val="1E293B"/>
                </a:solidFill>
              </a:defRPr>
            </a:pPr>
            <a:r>
              <a:t>Flagged Unbacked Pages</a:t>
            </a:r>
          </a:p>
          <a:p>
            <a:pPr>
              <a:defRPr sz="900">
                <a:solidFill>
                  <a:srgbClr val="475569"/>
                </a:solidFill>
              </a:defRPr>
            </a:pPr>
            <a:r>
              <a:t>MEM_PRIVATE + RWX Entropy Audited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926080"/>
            <a:ext cx="6217920" cy="3246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28600" rIns="274320" rtlCol="0" anchor="ctr"/>
          <a:lstStyle/>
          <a:p>
            <a:pPr algn="ctr">
              <a:spcAft>
                <a:spcPts val="800"/>
              </a:spcAft>
              <a:defRPr sz="1200" b="1">
                <a:solidFill>
                  <a:srgbClr val="0F172A"/>
                </a:solidFill>
              </a:defRPr>
            </a:pPr>
            <a:r>
              <a:t>REAL-TIME EXPERIMENTAL RUNTIME BENCHMARKS</a:t>
            </a:r>
          </a:p>
          <a:p>
            <a:pPr>
              <a:spcAft>
                <a:spcPts val="400"/>
              </a:spcAft>
              <a:defRPr sz="1000"/>
            </a:pPr>
            <a:r>
              <a:t>• </a:t>
            </a:r>
            <a:r>
              <a:rPr b="1">
                <a:solidFill>
                  <a:srgbClr val="0F172A"/>
                </a:solidFill>
              </a:rPr>
              <a:t>Platform Verified: </a:t>
            </a:r>
            <a:r>
              <a:rPr>
                <a:solidFill>
                  <a:srgbClr val="1E293B"/>
                </a:solidFill>
              </a:rPr>
              <a:t>Windows 11 x64 (NT Build 26200), MinGW GCC 14.2 (C++20).</a:t>
            </a:r>
          </a:p>
          <a:p>
            <a:pPr>
              <a:spcAft>
                <a:spcPts val="400"/>
              </a:spcAft>
              <a:defRPr sz="1000"/>
            </a:pPr>
            <a:r>
              <a:t>• </a:t>
            </a:r>
            <a:r>
              <a:rPr b="1">
                <a:solidFill>
                  <a:srgbClr val="0F172A"/>
                </a:solidFill>
              </a:rPr>
              <a:t>Memory Inspection: </a:t>
            </a:r>
            <a:r>
              <a:rPr>
                <a:solidFill>
                  <a:srgbClr val="1E293B"/>
                </a:solidFill>
              </a:rPr>
              <a:t>Traversed 20,643 committed executable regions across 327 active processes.</a:t>
            </a:r>
          </a:p>
          <a:p>
            <a:pPr>
              <a:spcAft>
                <a:spcPts val="400"/>
              </a:spcAft>
              <a:defRPr sz="1000"/>
            </a:pPr>
            <a:r>
              <a:t>• </a:t>
            </a:r>
            <a:r>
              <a:rPr b="1">
                <a:solidFill>
                  <a:srgbClr val="0F172A"/>
                </a:solidFill>
              </a:rPr>
              <a:t>Entropy Forensics: </a:t>
            </a:r>
            <a:r>
              <a:rPr>
                <a:solidFill>
                  <a:srgbClr val="1E293B"/>
                </a:solidFill>
              </a:rPr>
              <a:t>Calculated Shannon Entropy for all identified executable segments. Unbacked private pages ranged from H=1.39 (repetitive NOP padding) to H=7.42 (compressed/encrypted payloads).</a:t>
            </a:r>
          </a:p>
          <a:p>
            <a:pPr>
              <a:spcAft>
                <a:spcPts val="400"/>
              </a:spcAft>
              <a:defRPr sz="1000"/>
            </a:pPr>
            <a:r>
              <a:t>• </a:t>
            </a:r>
            <a:r>
              <a:rPr b="1">
                <a:solidFill>
                  <a:srgbClr val="0F172A"/>
                </a:solidFill>
              </a:rPr>
              <a:t>Socket Attribution: </a:t>
            </a:r>
            <a:r>
              <a:rPr>
                <a:solidFill>
                  <a:srgbClr val="1E293B"/>
                </a:solidFill>
              </a:rPr>
              <a:t>169 active IPv4/IPv6 sockets (TCP listening/established and UDP) successfully mapped to owning PIDs.</a:t>
            </a:r>
          </a:p>
          <a:p>
            <a:pPr>
              <a:spcAft>
                <a:spcPts val="400"/>
              </a:spcAft>
              <a:defRPr sz="1000"/>
            </a:pPr>
            <a:r>
              <a:t>• </a:t>
            </a:r>
            <a:r>
              <a:rPr b="1">
                <a:solidFill>
                  <a:srgbClr val="0F172A"/>
                </a:solidFill>
              </a:rPr>
              <a:t>Graph Topology: </a:t>
            </a:r>
            <a:r>
              <a:rPr>
                <a:solidFill>
                  <a:srgbClr val="1E293B"/>
                </a:solidFill>
              </a:rPr>
              <a:t>Generated 308 process spawn edges (PPID -&gt; PID) and 20k+ node-edge relationships exported cleanly to a 11.9 MB JSON graph structure.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0" y="2926080"/>
            <a:ext cx="4325112" cy="3246120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28600" rIns="274320" rtlCol="0" anchor="ctr"/>
          <a:lstStyle/>
          <a:p>
            <a:pPr algn="ctr">
              <a:spcAft>
                <a:spcPts val="800"/>
              </a:spcAft>
              <a:defRPr sz="1200" b="1">
                <a:solidFill>
                  <a:srgbClr val="1D4ED8"/>
                </a:solidFill>
              </a:defRPr>
            </a:pPr>
            <a:r>
              <a:t>PHASE 1 DELIVERABLES ACHIEVED</a:t>
            </a:r>
          </a:p>
          <a:p>
            <a:pPr>
              <a:spcAft>
                <a:spcPts val="400"/>
              </a:spcAft>
              <a:defRPr sz="1000"/>
            </a:pPr>
            <a:r>
              <a:t>✔ </a:t>
            </a:r>
            <a:r>
              <a:rPr b="1">
                <a:solidFill>
                  <a:srgbClr val="0F172A"/>
                </a:solidFill>
              </a:rPr>
              <a:t>Modular Source Code: </a:t>
            </a:r>
            <a:r>
              <a:rPr>
                <a:solidFill>
                  <a:srgbClr val="1E293B"/>
                </a:solidFill>
              </a:rPr>
              <a:t>Clean architecture (privilege.cpp, process_collector.cpp, memory_scanner.cpp, network_mapper.cpp, json_serializer.cpp, main.cpp).</a:t>
            </a:r>
          </a:p>
          <a:p>
            <a:pPr>
              <a:spcAft>
                <a:spcPts val="400"/>
              </a:spcAft>
              <a:defRPr sz="1000"/>
            </a:pPr>
            <a:r>
              <a:t>✔ </a:t>
            </a:r>
            <a:r>
              <a:rPr b="1">
                <a:solidFill>
                  <a:srgbClr val="0F172A"/>
                </a:solidFill>
              </a:rPr>
              <a:t>Zero Dependencies: </a:t>
            </a:r>
            <a:r>
              <a:rPr>
                <a:solidFill>
                  <a:srgbClr val="1E293B"/>
                </a:solidFill>
              </a:rPr>
              <a:t>Compiled without external package managers using Win32 / NT native APIs.</a:t>
            </a:r>
          </a:p>
          <a:p>
            <a:pPr>
              <a:spcAft>
                <a:spcPts val="400"/>
              </a:spcAft>
              <a:defRPr sz="1000"/>
            </a:pPr>
            <a:r>
              <a:t>✔ </a:t>
            </a:r>
            <a:r>
              <a:rPr b="1">
                <a:solidFill>
                  <a:srgbClr val="0F172A"/>
                </a:solidFill>
              </a:rPr>
              <a:t>Multi-Build System: </a:t>
            </a:r>
            <a:r>
              <a:rPr>
                <a:solidFill>
                  <a:srgbClr val="1E293B"/>
                </a:solidFill>
              </a:rPr>
              <a:t>Provided CMakeLists.txt, Makefile, and automated build.bat.</a:t>
            </a:r>
          </a:p>
          <a:p>
            <a:pPr>
              <a:spcAft>
                <a:spcPts val="400"/>
              </a:spcAft>
              <a:defRPr sz="1000"/>
            </a:pPr>
            <a:r>
              <a:t>✔ </a:t>
            </a:r>
            <a:r>
              <a:rPr b="1">
                <a:solidFill>
                  <a:srgbClr val="0F172A"/>
                </a:solidFill>
              </a:rPr>
              <a:t>Code Repository: </a:t>
            </a:r>
            <a:r>
              <a:rPr>
                <a:solidFill>
                  <a:srgbClr val="1E293B"/>
                </a:solidFill>
              </a:rPr>
              <a:t>Publicly version-controlled and pushed upstream to GitHub: https://github.com/Sws10436/idp.</a:t>
            </a:r>
          </a:p>
          <a:p>
            <a:pPr>
              <a:spcAft>
                <a:spcPts val="400"/>
              </a:spcAft>
              <a:defRPr sz="1000"/>
            </a:pPr>
            <a:r>
              <a:t>✔ </a:t>
            </a:r>
            <a:r>
              <a:rPr b="1">
                <a:solidFill>
                  <a:srgbClr val="0F172A"/>
                </a:solidFill>
              </a:rPr>
              <a:t>Review Milestone: </a:t>
            </a:r>
            <a:r>
              <a:rPr>
                <a:solidFill>
                  <a:srgbClr val="1E293B"/>
                </a:solidFill>
              </a:rPr>
              <a:t>&gt;35% total project milestone completion (exceeding 20% minimum requirement).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1701</Words>
  <Application>Microsoft Office PowerPoint</Application>
  <PresentationFormat>Widescreen</PresentationFormat>
  <Paragraphs>147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Swastik Mishra</cp:lastModifiedBy>
  <cp:revision>1</cp:revision>
  <dcterms:created xsi:type="dcterms:W3CDTF">2013-01-27T09:14:16Z</dcterms:created>
  <dcterms:modified xsi:type="dcterms:W3CDTF">2026-09-22T16:09:29Z</dcterms:modified>
  <cp:category/>
</cp:coreProperties>
</file>